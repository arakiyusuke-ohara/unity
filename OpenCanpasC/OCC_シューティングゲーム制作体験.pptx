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716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シューティングゲーム制作を通して、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プログラミング</a:t>
            </a:r>
            <a:r>
              <a:rPr lang="ja-JP" altLang="en-US" sz="2400" dirty="0"/>
              <a:t>を体験しましょう！！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6180540-17C2-4478-8E9D-1F32A191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127725" cy="43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ゲームエンジン</a:t>
            </a:r>
            <a:r>
              <a:rPr kumimoji="1" lang="ja-JP" altLang="en-US" sz="2400" dirty="0"/>
              <a:t>と呼ばれる、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ゲーム開発をサポートしてくれるアプリケーション</a:t>
            </a:r>
            <a:r>
              <a:rPr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C2213B2-10C4-4A09-8F63-04F0C6701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10" y="2187126"/>
            <a:ext cx="6561090" cy="352658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8055DF-8692-4500-BC5C-897EEC9954D8}"/>
              </a:ext>
            </a:extLst>
          </p:cNvPr>
          <p:cNvSpPr txBox="1"/>
          <p:nvPr/>
        </p:nvSpPr>
        <p:spPr>
          <a:xfrm>
            <a:off x="576310" y="584767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ゲーム会社でも使用されています！！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85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再生ボタン</a:t>
            </a:r>
            <a:r>
              <a:rPr kumimoji="1" lang="ja-JP" altLang="en-US" sz="2400" dirty="0"/>
              <a:t>から実行できます。</a:t>
            </a:r>
            <a:endParaRPr kumimoji="1" lang="en-US" altLang="ja-JP" sz="2400" dirty="0"/>
          </a:p>
          <a:p>
            <a:r>
              <a:rPr lang="ja-JP" altLang="en-US" sz="2400" dirty="0"/>
              <a:t>早速押してみましょう。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6720F8-6483-4B2B-AD9B-D1FA007F2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923591" cy="3805292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B07C60AA-3025-4C8A-A72D-583968D264EC}"/>
              </a:ext>
            </a:extLst>
          </p:cNvPr>
          <p:cNvSpPr/>
          <p:nvPr/>
        </p:nvSpPr>
        <p:spPr>
          <a:xfrm rot="13245323">
            <a:off x="6578186" y="2547838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42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ボタンを押しても反応しません。</a:t>
            </a:r>
            <a:endParaRPr kumimoji="1"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基本操作のプログラム</a:t>
            </a:r>
            <a:r>
              <a:rPr lang="ja-JP" altLang="en-US" sz="2400" dirty="0"/>
              <a:t>から作りましょう。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405CCC1-4F02-4425-81EE-EC947F44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907591" cy="401529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A016238-AAE7-405C-BD98-37C4D9CE8C8F}"/>
              </a:ext>
            </a:extLst>
          </p:cNvPr>
          <p:cNvSpPr txBox="1"/>
          <p:nvPr/>
        </p:nvSpPr>
        <p:spPr>
          <a:xfrm>
            <a:off x="1016276" y="3358495"/>
            <a:ext cx="233910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動かない。。。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E08318-5728-4918-8709-79788E3BC59E}"/>
              </a:ext>
            </a:extLst>
          </p:cNvPr>
          <p:cNvSpPr txBox="1"/>
          <p:nvPr/>
        </p:nvSpPr>
        <p:spPr>
          <a:xfrm>
            <a:off x="567542" y="6342117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再生ボタン隣の停止ボタンで、ゲームを停止してください。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3528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64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プログラムのファイルを開きます。</a:t>
            </a:r>
            <a:r>
              <a:rPr lang="ja-JP" altLang="en-US" sz="2400" dirty="0"/>
              <a:t>左下のフォルダがある画面から、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MyProject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&gt; 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Scropts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&gt; Player</a:t>
            </a:r>
            <a:r>
              <a:rPr kumimoji="1" lang="ja-JP" altLang="en-US" sz="2400" dirty="0"/>
              <a:t>」のフォルダをクリックしましょう。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8FD94EF-B3F8-49FC-AB16-EA1900800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265991" cy="426455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6F17F18A-0EEE-43CA-9602-0E2BFD1204C5}"/>
              </a:ext>
            </a:extLst>
          </p:cNvPr>
          <p:cNvSpPr/>
          <p:nvPr/>
        </p:nvSpPr>
        <p:spPr>
          <a:xfrm rot="13245323">
            <a:off x="1684452" y="5390284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4877D0-303A-4840-AC1E-4A49B684FFFE}"/>
              </a:ext>
            </a:extLst>
          </p:cNvPr>
          <p:cNvSpPr txBox="1"/>
          <p:nvPr/>
        </p:nvSpPr>
        <p:spPr>
          <a:xfrm>
            <a:off x="3364141" y="4088569"/>
            <a:ext cx="462498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この２つのファイルがでれば</a:t>
            </a:r>
            <a:r>
              <a:rPr kumimoji="1" lang="en-US" altLang="ja-JP" sz="2400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269329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78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表示された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をダブルクリック</a:t>
            </a:r>
            <a:r>
              <a:rPr kumimoji="1"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8FD94EF-B3F8-49FC-AB16-EA1900800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265991" cy="426455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6F17F18A-0EEE-43CA-9602-0E2BFD1204C5}"/>
              </a:ext>
            </a:extLst>
          </p:cNvPr>
          <p:cNvSpPr/>
          <p:nvPr/>
        </p:nvSpPr>
        <p:spPr>
          <a:xfrm rot="13245323">
            <a:off x="3538651" y="3656503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724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4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kumimoji="1" lang="ja-JP" altLang="en-US" sz="2400" dirty="0"/>
              <a:t>という、プログラムを書くアプリケーションが開きます。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E7CF18C-E8FD-4D8D-8472-76BDA4390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313624" cy="393107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42C2C2-5D6D-4E11-B818-76BB99060A08}"/>
              </a:ext>
            </a:extLst>
          </p:cNvPr>
          <p:cNvSpPr txBox="1"/>
          <p:nvPr/>
        </p:nvSpPr>
        <p:spPr>
          <a:xfrm>
            <a:off x="567542" y="5904381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それでは、基本操作のプログラムを書いていきます。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4364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67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70</a:t>
            </a:r>
            <a:r>
              <a:rPr lang="ja-JP" altLang="en-US" sz="2400" dirty="0"/>
              <a:t>行目辺りにこのような場所があります。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8773AB-4EAA-428E-AC60-2F5917AF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812937" cy="347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4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画面を参考にプログラムを書きましょう。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247A15-19C1-4C4A-B3DA-5A8A8F4A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08525" cy="160608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E3D302-38B9-4EF7-BA41-5E832C6C0CF6}"/>
              </a:ext>
            </a:extLst>
          </p:cNvPr>
          <p:cNvSpPr txBox="1"/>
          <p:nvPr/>
        </p:nvSpPr>
        <p:spPr>
          <a:xfrm>
            <a:off x="8255275" y="1979137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7030A0"/>
                </a:solidFill>
              </a:rPr>
              <a:t>もしも上矢印を押したら</a:t>
            </a:r>
            <a:endParaRPr lang="en-US" altLang="ja-JP" sz="2400" b="1" dirty="0">
              <a:solidFill>
                <a:srgbClr val="7030A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E0CB4D-1DDB-46A5-9F28-363AB8BD0C44}"/>
              </a:ext>
            </a:extLst>
          </p:cNvPr>
          <p:cNvSpPr txBox="1"/>
          <p:nvPr/>
        </p:nvSpPr>
        <p:spPr>
          <a:xfrm>
            <a:off x="8303365" y="2440802"/>
            <a:ext cx="3474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Y</a:t>
            </a:r>
            <a:r>
              <a:rPr lang="ja-JP" altLang="en-US" sz="2400" b="1" dirty="0">
                <a:solidFill>
                  <a:srgbClr val="7030A0"/>
                </a:solidFill>
              </a:rPr>
              <a:t>軸（縦軸）に移動する</a:t>
            </a:r>
            <a:endParaRPr lang="en-US" altLang="ja-JP" sz="2400" b="1" dirty="0">
              <a:solidFill>
                <a:srgbClr val="7030A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B4C171-AA5F-4E9C-A45B-52BDC18F6A4B}"/>
              </a:ext>
            </a:extLst>
          </p:cNvPr>
          <p:cNvSpPr txBox="1"/>
          <p:nvPr/>
        </p:nvSpPr>
        <p:spPr>
          <a:xfrm>
            <a:off x="567542" y="3775245"/>
            <a:ext cx="74719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このようにプログラミングとは、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やりたいことをルールに則って書いていきます。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書き終わったら、</a:t>
            </a:r>
            <a:r>
              <a:rPr lang="en-US" altLang="ja-JP" sz="2400" b="1" dirty="0">
                <a:solidFill>
                  <a:srgbClr val="FF0000"/>
                </a:solidFill>
              </a:rPr>
              <a:t>CTRL + S</a:t>
            </a:r>
            <a:r>
              <a:rPr lang="ja-JP" altLang="en-US" sz="2400" b="1" dirty="0">
                <a:solidFill>
                  <a:srgbClr val="FF0000"/>
                </a:solidFill>
              </a:rPr>
              <a:t>キーで保存</a:t>
            </a:r>
            <a:r>
              <a:rPr lang="ja-JP" altLang="en-US" sz="2400" dirty="0"/>
              <a:t>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53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の画面に戻ってゲームを実行しましょう。</a:t>
            </a:r>
            <a:endParaRPr lang="en-US" altLang="ja-JP" sz="2400" dirty="0"/>
          </a:p>
          <a:p>
            <a:r>
              <a:rPr lang="ja-JP" altLang="en-US" sz="2400" dirty="0"/>
              <a:t>上キーを押すと、機体が上に移動するようになっているはずです。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D4E479B-7120-48BB-8CD6-B398F0901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923591" cy="380529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FFE8A12-7CDA-4139-A07D-FC2F1886D1CD}"/>
              </a:ext>
            </a:extLst>
          </p:cNvPr>
          <p:cNvSpPr/>
          <p:nvPr/>
        </p:nvSpPr>
        <p:spPr>
          <a:xfrm rot="13245323">
            <a:off x="6578186" y="2547838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F93749-84E8-45DA-8993-541ACF3C8D3E}"/>
              </a:ext>
            </a:extLst>
          </p:cNvPr>
          <p:cNvSpPr txBox="1"/>
          <p:nvPr/>
        </p:nvSpPr>
        <p:spPr>
          <a:xfrm>
            <a:off x="567542" y="6132120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これを繰り返しながら、一緒にゲームを完成させていきましょう。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26555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続けてほかの移動方向もプログラミングしましょう。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3AAD260-DA30-4414-967E-4912FA4B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82482" cy="406774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D5C020-E651-4908-BC16-24299871799F}"/>
              </a:ext>
            </a:extLst>
          </p:cNvPr>
          <p:cNvSpPr/>
          <p:nvPr/>
        </p:nvSpPr>
        <p:spPr>
          <a:xfrm>
            <a:off x="2328333" y="2946400"/>
            <a:ext cx="4241800" cy="304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8CB7038-171E-41F5-A1A2-111BF49D82D8}"/>
              </a:ext>
            </a:extLst>
          </p:cNvPr>
          <p:cNvSpPr txBox="1"/>
          <p:nvPr/>
        </p:nvSpPr>
        <p:spPr>
          <a:xfrm>
            <a:off x="567541" y="6135213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コピー＆ペーストを上手に使うと、早く書くことができます。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86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書き終わったらプログラムを保存</a:t>
            </a:r>
            <a:r>
              <a:rPr lang="ja-JP" altLang="en-US" sz="2400" dirty="0"/>
              <a:t>して、動作確認しましょう。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D4E479B-7120-48BB-8CD6-B398F0901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923591" cy="380529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FFE8A12-7CDA-4139-A07D-FC2F1886D1CD}"/>
              </a:ext>
            </a:extLst>
          </p:cNvPr>
          <p:cNvSpPr/>
          <p:nvPr/>
        </p:nvSpPr>
        <p:spPr>
          <a:xfrm rot="13245323">
            <a:off x="6578186" y="2547838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8F93749-84E8-45DA-8993-541ACF3C8D3E}"/>
              </a:ext>
            </a:extLst>
          </p:cNvPr>
          <p:cNvSpPr txBox="1"/>
          <p:nvPr/>
        </p:nvSpPr>
        <p:spPr>
          <a:xfrm>
            <a:off x="567542" y="6132120"/>
            <a:ext cx="4932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上下左右に移動できれば</a:t>
            </a:r>
            <a:r>
              <a:rPr lang="en-US" altLang="ja-JP" sz="2400" dirty="0"/>
              <a:t>OK</a:t>
            </a:r>
            <a:r>
              <a:rPr lang="ja-JP" altLang="en-US" sz="2400" dirty="0"/>
              <a:t>です！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3096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3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キーで弾丸を発射するようにしましょう。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FCA29D9-6713-4924-B449-DD86B6F5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26065" cy="446784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A95A58F-16D8-43D6-A399-786B33F74222}"/>
              </a:ext>
            </a:extLst>
          </p:cNvPr>
          <p:cNvSpPr/>
          <p:nvPr/>
        </p:nvSpPr>
        <p:spPr>
          <a:xfrm>
            <a:off x="2489200" y="2379133"/>
            <a:ext cx="3187434" cy="567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5CE1EC-2582-4B4E-8D22-E8C723E9807D}"/>
              </a:ext>
            </a:extLst>
          </p:cNvPr>
          <p:cNvSpPr txBox="1"/>
          <p:nvPr/>
        </p:nvSpPr>
        <p:spPr>
          <a:xfrm>
            <a:off x="5676633" y="251551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7030A0"/>
                </a:solidFill>
              </a:rPr>
              <a:t>カッコの中を書き換えてね</a:t>
            </a:r>
            <a:endParaRPr lang="en-US" altLang="ja-JP" sz="2400" b="1" dirty="0">
              <a:solidFill>
                <a:srgbClr val="7030A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73313C0-10C7-4F45-9244-DA76370A59B2}"/>
              </a:ext>
            </a:extLst>
          </p:cNvPr>
          <p:cNvSpPr/>
          <p:nvPr/>
        </p:nvSpPr>
        <p:spPr>
          <a:xfrm>
            <a:off x="3327399" y="4033362"/>
            <a:ext cx="5766207" cy="6741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C461318-83DA-4191-91CB-44E40524FBF7}"/>
              </a:ext>
            </a:extLst>
          </p:cNvPr>
          <p:cNvSpPr txBox="1"/>
          <p:nvPr/>
        </p:nvSpPr>
        <p:spPr>
          <a:xfrm>
            <a:off x="509663" y="6352067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書き終わったら、保存して動作確認しましょう！！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13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990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まだ弾丸が敵に当たりません。</a:t>
            </a:r>
            <a:endParaRPr lang="en-US" altLang="ja-JP" sz="2400" dirty="0"/>
          </a:p>
          <a:p>
            <a:r>
              <a:rPr lang="ja-JP" altLang="en-US" sz="2400" dirty="0"/>
              <a:t>敵のプログラムである</a:t>
            </a:r>
            <a:r>
              <a:rPr lang="en-US" altLang="ja-JP" sz="2400" b="1" dirty="0" err="1">
                <a:solidFill>
                  <a:srgbClr val="FF0000"/>
                </a:solidFill>
              </a:rPr>
              <a:t>EnemyBase</a:t>
            </a:r>
            <a:r>
              <a:rPr lang="ja-JP" altLang="en-US" sz="2400" dirty="0"/>
              <a:t>を開いて、当たり判定のプログラムを書きます。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DD0D4F-376B-4A16-9787-3AE1A8EF3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448796" cy="3581900"/>
          </a:xfrm>
          <a:prstGeom prst="rect">
            <a:avLst/>
          </a:prstGeom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CB1572C1-3DF8-42EE-8A1B-4EBB7DE73787}"/>
              </a:ext>
            </a:extLst>
          </p:cNvPr>
          <p:cNvSpPr/>
          <p:nvPr/>
        </p:nvSpPr>
        <p:spPr>
          <a:xfrm rot="13245323">
            <a:off x="1540519" y="4132704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B6419EDD-1330-4B7A-802B-84C6CD715E57}"/>
              </a:ext>
            </a:extLst>
          </p:cNvPr>
          <p:cNvSpPr/>
          <p:nvPr/>
        </p:nvSpPr>
        <p:spPr>
          <a:xfrm rot="13245323">
            <a:off x="2996786" y="3700130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10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画面を参考に書きましょう。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595925F-D2BA-4F2E-A1E9-6C273D87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342051" cy="371940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FF3095-F698-4336-8498-0701D1303020}"/>
              </a:ext>
            </a:extLst>
          </p:cNvPr>
          <p:cNvSpPr txBox="1"/>
          <p:nvPr/>
        </p:nvSpPr>
        <p:spPr>
          <a:xfrm>
            <a:off x="567541" y="5780194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書き終わったら保存して動作確認！！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01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移動と攻撃ができて、遊べるようになりました！</a:t>
            </a:r>
            <a:endParaRPr lang="en-US" altLang="ja-JP" sz="2400" dirty="0"/>
          </a:p>
          <a:p>
            <a:r>
              <a:rPr lang="ja-JP" altLang="en-US" sz="2400" dirty="0"/>
              <a:t>敵をやっつけていきましょう。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A60706-9928-4C0E-A741-39CC4721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7822925" cy="388650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1CEA66-2A4E-470B-B1AE-CB5C7EF76953}"/>
              </a:ext>
            </a:extLst>
          </p:cNvPr>
          <p:cNvSpPr txBox="1"/>
          <p:nvPr/>
        </p:nvSpPr>
        <p:spPr>
          <a:xfrm>
            <a:off x="567541" y="621333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でも、すこし味気ないですね。。。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75759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ゲームは</a:t>
            </a:r>
            <a:r>
              <a:rPr lang="ja-JP" altLang="en-US" sz="2400" b="1" dirty="0">
                <a:solidFill>
                  <a:srgbClr val="FF0000"/>
                </a:solidFill>
              </a:rPr>
              <a:t>オーディオ（音声）</a:t>
            </a:r>
            <a:r>
              <a:rPr lang="ja-JP" altLang="en-US" sz="2400" dirty="0"/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エフェクト（火花など）</a:t>
            </a:r>
            <a:r>
              <a:rPr lang="ja-JP" altLang="en-US" sz="2400" dirty="0"/>
              <a:t>を使って、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見てて楽しくなる</a:t>
            </a:r>
            <a:r>
              <a:rPr lang="ja-JP" altLang="en-US" sz="2400" dirty="0"/>
              <a:t>ように演出されます。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それらを追加して、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ゲームをもっと派手に</a:t>
            </a:r>
            <a:r>
              <a:rPr lang="ja-JP" altLang="en-US" sz="2400" dirty="0"/>
              <a:t>していきましょう。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F24358-2136-43D7-B97F-A99EF742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6006371" cy="297859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861E03-C60C-495F-83B9-086CC01BB84E}"/>
              </a:ext>
            </a:extLst>
          </p:cNvPr>
          <p:cNvSpPr txBox="1"/>
          <p:nvPr/>
        </p:nvSpPr>
        <p:spPr>
          <a:xfrm>
            <a:off x="567542" y="6077060"/>
            <a:ext cx="5856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ここからは</a:t>
            </a:r>
            <a:r>
              <a:rPr lang="en-US" altLang="ja-JP" sz="2400" dirty="0"/>
              <a:t>Unity</a:t>
            </a:r>
            <a:r>
              <a:rPr lang="ja-JP" altLang="en-US" sz="2400" dirty="0"/>
              <a:t>側も操作していきます。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77914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45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弾丸のプログラムである</a:t>
            </a:r>
            <a:r>
              <a:rPr lang="en-US" altLang="ja-JP" sz="2400" b="1" dirty="0">
                <a:solidFill>
                  <a:srgbClr val="FF0000"/>
                </a:solidFill>
              </a:rPr>
              <a:t>Bullet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BDA1D7-38E3-46F9-9503-5BE6FB61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762900" cy="361047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3CD10183-8420-4F74-A667-D5A6AEBBB0AC}"/>
              </a:ext>
            </a:extLst>
          </p:cNvPr>
          <p:cNvSpPr/>
          <p:nvPr/>
        </p:nvSpPr>
        <p:spPr>
          <a:xfrm rot="13245323">
            <a:off x="1438918" y="4064198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1E29D462-5DC7-4221-9823-D722873DADF8}"/>
              </a:ext>
            </a:extLst>
          </p:cNvPr>
          <p:cNvSpPr/>
          <p:nvPr/>
        </p:nvSpPr>
        <p:spPr>
          <a:xfrm rot="13245323">
            <a:off x="3106853" y="3073597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958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画面を参考に書きましょう。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BFCB29F-94CF-4A02-A445-66E5A01E3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992855" cy="2791215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147ED2-44DE-4468-A18E-AF292D5DA003}"/>
              </a:ext>
            </a:extLst>
          </p:cNvPr>
          <p:cNvSpPr/>
          <p:nvPr/>
        </p:nvSpPr>
        <p:spPr>
          <a:xfrm>
            <a:off x="2480732" y="2331562"/>
            <a:ext cx="7079665" cy="12583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D4BC239-6E1C-4EA9-A77D-DE45814C7B68}"/>
              </a:ext>
            </a:extLst>
          </p:cNvPr>
          <p:cNvSpPr txBox="1"/>
          <p:nvPr/>
        </p:nvSpPr>
        <p:spPr>
          <a:xfrm>
            <a:off x="567542" y="4891944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書き終わったら保存しましょう。（まだでません）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5489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</a:t>
            </a:r>
            <a:r>
              <a:rPr lang="ja-JP" altLang="en-US" sz="2400" b="1" dirty="0">
                <a:solidFill>
                  <a:srgbClr val="FF0000"/>
                </a:solidFill>
              </a:rPr>
              <a:t>弾丸の大元となるデータ（プレハブ）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5BE37D6-AA4D-4B28-A962-F3C548B33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39270" cy="360095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808D124F-4D46-4D8F-8FFA-837AC6410741}"/>
              </a:ext>
            </a:extLst>
          </p:cNvPr>
          <p:cNvSpPr/>
          <p:nvPr/>
        </p:nvSpPr>
        <p:spPr>
          <a:xfrm rot="13245323">
            <a:off x="1455852" y="3772899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32FEAF0C-C0A1-4E3C-9747-4CC90F8191C8}"/>
              </a:ext>
            </a:extLst>
          </p:cNvPr>
          <p:cNvSpPr/>
          <p:nvPr/>
        </p:nvSpPr>
        <p:spPr>
          <a:xfrm rot="13245323">
            <a:off x="4588518" y="3031265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85EF1F-CF84-48A8-90E6-8188E001D2B9}"/>
              </a:ext>
            </a:extLst>
          </p:cNvPr>
          <p:cNvSpPr txBox="1"/>
          <p:nvPr/>
        </p:nvSpPr>
        <p:spPr>
          <a:xfrm>
            <a:off x="567542" y="5563450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※</a:t>
            </a:r>
            <a:r>
              <a:rPr lang="ja-JP" altLang="en-US" sz="2400" b="1" dirty="0">
                <a:solidFill>
                  <a:srgbClr val="00B050"/>
                </a:solidFill>
              </a:rPr>
              <a:t>プログラムはプレハブの一部分にすぎません。。。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70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871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画面右側にエフェクトや効果音（</a:t>
            </a:r>
            <a:r>
              <a:rPr lang="en-US" altLang="ja-JP" sz="2400" dirty="0"/>
              <a:t>SE</a:t>
            </a:r>
            <a:r>
              <a:rPr lang="ja-JP" altLang="en-US" sz="2400" dirty="0"/>
              <a:t>）を設定する枠があります。</a:t>
            </a:r>
            <a:endParaRPr lang="en-US" altLang="ja-JP" sz="2400" dirty="0"/>
          </a:p>
          <a:p>
            <a:r>
              <a:rPr lang="ja-JP" altLang="en-US" sz="2400" dirty="0"/>
              <a:t>画面を参考に設定しましょう。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2723501-3514-4C61-9CD9-A06FFBC1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3346584" cy="436607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9E2FFC-3BEA-43C2-BE26-711068EAAA9E}"/>
              </a:ext>
            </a:extLst>
          </p:cNvPr>
          <p:cNvSpPr/>
          <p:nvPr/>
        </p:nvSpPr>
        <p:spPr>
          <a:xfrm>
            <a:off x="440267" y="5715001"/>
            <a:ext cx="3547533" cy="507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583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敵の弾丸も同様に設定していきます。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5BE37D6-AA4D-4B28-A962-F3C548B33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39270" cy="360095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808D124F-4D46-4D8F-8FFA-837AC6410741}"/>
              </a:ext>
            </a:extLst>
          </p:cNvPr>
          <p:cNvSpPr/>
          <p:nvPr/>
        </p:nvSpPr>
        <p:spPr>
          <a:xfrm rot="13245323">
            <a:off x="1455852" y="3772899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32FEAF0C-C0A1-4E3C-9747-4CC90F8191C8}"/>
              </a:ext>
            </a:extLst>
          </p:cNvPr>
          <p:cNvSpPr/>
          <p:nvPr/>
        </p:nvSpPr>
        <p:spPr>
          <a:xfrm rot="13245323">
            <a:off x="3005251" y="3268331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978F481-3327-4AB4-9AD9-C8F0CE6E4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95" y="1817794"/>
            <a:ext cx="5407490" cy="360095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9B29E76-4426-44E7-B483-D06C7CB2071A}"/>
              </a:ext>
            </a:extLst>
          </p:cNvPr>
          <p:cNvSpPr/>
          <p:nvPr/>
        </p:nvSpPr>
        <p:spPr>
          <a:xfrm>
            <a:off x="5427895" y="3302001"/>
            <a:ext cx="5407490" cy="787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213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動作確認してみましょう。</a:t>
            </a:r>
            <a:endParaRPr lang="en-US" altLang="ja-JP" sz="2400" dirty="0"/>
          </a:p>
          <a:p>
            <a:r>
              <a:rPr lang="ja-JP" altLang="en-US" sz="2400" dirty="0"/>
              <a:t>弾丸に音とエフェクトがついているはずです。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740F768-1DE8-4E14-9C9F-415E5272A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127725" cy="43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38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8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同様にやっつけた時の音やエフェクトを追加します。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EnemyBase</a:t>
            </a:r>
            <a:r>
              <a:rPr lang="ja-JP" altLang="en-US" sz="2400" dirty="0"/>
              <a:t>を書きましょう。保存を忘れないように。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58A160B-68F8-4D76-9D76-2869AAC9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10515325" cy="418474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6C6300A-F185-419B-9B2A-5A163B25C9B9}"/>
              </a:ext>
            </a:extLst>
          </p:cNvPr>
          <p:cNvSpPr/>
          <p:nvPr/>
        </p:nvSpPr>
        <p:spPr>
          <a:xfrm rot="13245323">
            <a:off x="4437169" y="2850030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4E5E8CD-9199-4E0F-9C18-DFBE25862B28}"/>
              </a:ext>
            </a:extLst>
          </p:cNvPr>
          <p:cNvSpPr/>
          <p:nvPr/>
        </p:nvSpPr>
        <p:spPr>
          <a:xfrm>
            <a:off x="5435099" y="3996267"/>
            <a:ext cx="5647767" cy="872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628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17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側も同様に設定します。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FDD071-B31A-4E1C-BF8E-F987F124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25461"/>
            <a:ext cx="4458322" cy="245779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3512D04A-575E-4EFF-8117-697A240D9374}"/>
              </a:ext>
            </a:extLst>
          </p:cNvPr>
          <p:cNvSpPr/>
          <p:nvPr/>
        </p:nvSpPr>
        <p:spPr>
          <a:xfrm rot="13245323">
            <a:off x="2964329" y="3177712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FD7C77C-37A8-4ADC-883D-56EB66479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798" y="1725461"/>
            <a:ext cx="3203567" cy="4971540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EAEBECA0-5F68-4615-B4DD-9D70511BC221}"/>
              </a:ext>
            </a:extLst>
          </p:cNvPr>
          <p:cNvSpPr/>
          <p:nvPr/>
        </p:nvSpPr>
        <p:spPr>
          <a:xfrm rot="13245323">
            <a:off x="1600836" y="3959943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9F16CEB-40A7-489D-827E-BACA65549C50}"/>
              </a:ext>
            </a:extLst>
          </p:cNvPr>
          <p:cNvSpPr/>
          <p:nvPr/>
        </p:nvSpPr>
        <p:spPr>
          <a:xfrm>
            <a:off x="5795798" y="5139267"/>
            <a:ext cx="3203568" cy="372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845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プレイヤー側も追加します。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AC2D327-7B4C-44C0-9DA8-0783BCDA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31172" cy="3429479"/>
          </a:xfrm>
          <a:prstGeom prst="rect">
            <a:avLst/>
          </a:prstGeom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BCC2B3AA-1498-4CDE-A984-91BC68245817}"/>
              </a:ext>
            </a:extLst>
          </p:cNvPr>
          <p:cNvSpPr/>
          <p:nvPr/>
        </p:nvSpPr>
        <p:spPr>
          <a:xfrm rot="13245323">
            <a:off x="3040169" y="1972423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70F87EE-F181-4E7B-A7A2-121577625E00}"/>
              </a:ext>
            </a:extLst>
          </p:cNvPr>
          <p:cNvSpPr/>
          <p:nvPr/>
        </p:nvSpPr>
        <p:spPr>
          <a:xfrm>
            <a:off x="3272116" y="3429000"/>
            <a:ext cx="7243484" cy="1058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967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プレイヤー側も追加します。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8592EEF-C902-4DC6-9760-4178EDDFF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677163" cy="3600953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C73AB13C-F79D-4705-942C-9762E6556B64}"/>
              </a:ext>
            </a:extLst>
          </p:cNvPr>
          <p:cNvSpPr/>
          <p:nvPr/>
        </p:nvSpPr>
        <p:spPr>
          <a:xfrm rot="13245323">
            <a:off x="1355303" y="4216090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D65A9CE-43E3-46DE-BDC8-5815177E0D1F}"/>
              </a:ext>
            </a:extLst>
          </p:cNvPr>
          <p:cNvSpPr/>
          <p:nvPr/>
        </p:nvSpPr>
        <p:spPr>
          <a:xfrm rot="13245323">
            <a:off x="3014769" y="3259356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47E5C6E-4E08-4DC4-B6BA-68C24840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80" y="1817793"/>
            <a:ext cx="5473932" cy="360095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120A403-9B45-46C4-9961-6DA2E4DF68FA}"/>
              </a:ext>
            </a:extLst>
          </p:cNvPr>
          <p:cNvSpPr/>
          <p:nvPr/>
        </p:nvSpPr>
        <p:spPr>
          <a:xfrm>
            <a:off x="4945780" y="2836334"/>
            <a:ext cx="5473932" cy="4825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6784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99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</a:t>
            </a:r>
            <a:r>
              <a:rPr lang="en-US" altLang="ja-JP" sz="2400" dirty="0"/>
              <a:t>BGM</a:t>
            </a:r>
            <a:r>
              <a:rPr lang="ja-JP" altLang="en-US" sz="2400" dirty="0"/>
              <a:t>をかけてみましょう。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049460-E13F-43A1-9F7A-3F8C166D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677163" cy="3610479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E19E29BC-FA07-4906-A68E-B57785BA8C95}"/>
              </a:ext>
            </a:extLst>
          </p:cNvPr>
          <p:cNvSpPr/>
          <p:nvPr/>
        </p:nvSpPr>
        <p:spPr>
          <a:xfrm rot="13245323">
            <a:off x="1465368" y="3877424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DD2D04DE-045E-43FA-8230-6EDEC167CA6A}"/>
              </a:ext>
            </a:extLst>
          </p:cNvPr>
          <p:cNvSpPr/>
          <p:nvPr/>
        </p:nvSpPr>
        <p:spPr>
          <a:xfrm rot="13245323">
            <a:off x="2897024" y="3284756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C9AE49EC-4899-47F3-898E-AF193DBF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009" y="1817794"/>
            <a:ext cx="6163535" cy="1724266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C17D831-ABBD-4F78-80A0-2C7C9B335BD7}"/>
              </a:ext>
            </a:extLst>
          </p:cNvPr>
          <p:cNvSpPr/>
          <p:nvPr/>
        </p:nvSpPr>
        <p:spPr>
          <a:xfrm>
            <a:off x="6838436" y="2201334"/>
            <a:ext cx="4173108" cy="9905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647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今回のように</a:t>
            </a:r>
            <a:r>
              <a:rPr lang="ja-JP" altLang="en-US" sz="2400" b="1" dirty="0">
                <a:solidFill>
                  <a:srgbClr val="0070C0"/>
                </a:solidFill>
              </a:rPr>
              <a:t>プログラマーの作業は地道なもの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ただし、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作れば作るほどゲームは良くなっていきます！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このことが楽しいと思える方は、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ぜひゲームプログラマーを目指してみてください！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2727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　おまけ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プレイヤーをカスタマイズしてみましょう。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CC81EA9-5532-4026-999E-3BA22F29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677163" cy="3600953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B11A089C-B328-4196-B5F5-AEAC74690DD1}"/>
              </a:ext>
            </a:extLst>
          </p:cNvPr>
          <p:cNvSpPr/>
          <p:nvPr/>
        </p:nvSpPr>
        <p:spPr>
          <a:xfrm rot="13245323">
            <a:off x="1355303" y="4216090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B7892C70-DA47-4041-AE6D-A537F57802F6}"/>
              </a:ext>
            </a:extLst>
          </p:cNvPr>
          <p:cNvSpPr/>
          <p:nvPr/>
        </p:nvSpPr>
        <p:spPr>
          <a:xfrm rot="13245323">
            <a:off x="3014769" y="3259356"/>
            <a:ext cx="660400" cy="50257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2F460C9-1AC9-43A1-81C6-6F53CDF4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80" y="1817793"/>
            <a:ext cx="5473932" cy="3600953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3D04CE5-6B58-40AF-9CD7-2F4C6960D701}"/>
              </a:ext>
            </a:extLst>
          </p:cNvPr>
          <p:cNvSpPr txBox="1"/>
          <p:nvPr/>
        </p:nvSpPr>
        <p:spPr>
          <a:xfrm>
            <a:off x="10355009" y="2310513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7030A0"/>
                </a:solidFill>
              </a:rPr>
              <a:t>移動速度</a:t>
            </a:r>
            <a:r>
              <a:rPr lang="en-US" altLang="ja-JP" b="1" dirty="0">
                <a:solidFill>
                  <a:srgbClr val="7030A0"/>
                </a:solidFill>
              </a:rPr>
              <a:t>(m/s)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CBE1F53-3B82-48B3-A8EB-8CFA9F22CCD3}"/>
              </a:ext>
            </a:extLst>
          </p:cNvPr>
          <p:cNvSpPr txBox="1"/>
          <p:nvPr/>
        </p:nvSpPr>
        <p:spPr>
          <a:xfrm>
            <a:off x="10419712" y="3172565"/>
            <a:ext cx="1526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7030A0"/>
                </a:solidFill>
              </a:rPr>
              <a:t>連射間隔</a:t>
            </a:r>
            <a:endParaRPr lang="en-US" altLang="ja-JP" b="1" dirty="0">
              <a:solidFill>
                <a:srgbClr val="7030A0"/>
              </a:solidFill>
            </a:endParaRPr>
          </a:p>
          <a:p>
            <a:r>
              <a:rPr lang="en-US" altLang="ja-JP" b="1" dirty="0">
                <a:solidFill>
                  <a:srgbClr val="7030A0"/>
                </a:solidFill>
              </a:rPr>
              <a:t>(0.2</a:t>
            </a:r>
            <a:r>
              <a:rPr lang="ja-JP" altLang="en-US" b="1" dirty="0">
                <a:solidFill>
                  <a:srgbClr val="7030A0"/>
                </a:solidFill>
              </a:rPr>
              <a:t>秒に</a:t>
            </a:r>
            <a:r>
              <a:rPr lang="en-US" altLang="ja-JP" b="1" dirty="0">
                <a:solidFill>
                  <a:srgbClr val="7030A0"/>
                </a:solidFill>
              </a:rPr>
              <a:t>1</a:t>
            </a:r>
            <a:r>
              <a:rPr lang="ja-JP" altLang="en-US" b="1" dirty="0">
                <a:solidFill>
                  <a:srgbClr val="7030A0"/>
                </a:solidFill>
              </a:rPr>
              <a:t>発</a:t>
            </a:r>
            <a:r>
              <a:rPr lang="en-US" altLang="ja-JP" b="1" dirty="0">
                <a:solidFill>
                  <a:srgbClr val="7030A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116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691</Words>
  <Application>Microsoft Office PowerPoint</Application>
  <PresentationFormat>ワイド画面</PresentationFormat>
  <Paragraphs>103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30</cp:revision>
  <dcterms:created xsi:type="dcterms:W3CDTF">2024-08-27T02:15:54Z</dcterms:created>
  <dcterms:modified xsi:type="dcterms:W3CDTF">2026-04-22T02:51:53Z</dcterms:modified>
</cp:coreProperties>
</file>